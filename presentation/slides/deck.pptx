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Deaths</c:v>
                </c:pt>
              </c:strCache>
            </c:strRef>
          </c:tx>
          <c:dPt>
            <c:idx val="0"/>
            <c:spPr>
              <a:solidFill>
                <a:srgbClr val="C0392B"/>
              </a:solidFill>
            </c:spPr>
          </c:dPt>
          <c:dPt>
            <c:idx val="1"/>
            <c:spPr>
              <a:solidFill>
                <a:srgbClr val="D35400"/>
              </a:solidFill>
            </c:spPr>
          </c:dPt>
          <c:dPt>
            <c:idx val="2"/>
            <c:spPr>
              <a:solidFill>
                <a:srgbClr val="E74C3C"/>
              </a:solidFill>
            </c:spPr>
          </c:dPt>
          <c:dPt>
            <c:idx val="3"/>
            <c:spPr>
              <a:solidFill>
                <a:srgbClr val="2563A0"/>
              </a:solidFill>
            </c:spPr>
          </c:dPt>
          <c:dPt>
            <c:idx val="4"/>
            <c:spPr>
              <a:solidFill>
                <a:srgbClr val="64748B"/>
              </a:solidFill>
            </c:spPr>
          </c:dPt>
          <c:cat>
            <c:strRef>
              <c:f>Sheet1!$A$2:$A$6</c:f>
              <c:strCache>
                <c:ptCount val="5"/>
                <c:pt idx="0">
                  <c:v>Late-onset sepsis</c:v>
                </c:pt>
                <c:pt idx="1">
                  <c:v>NEC</c:v>
                </c:pt>
                <c:pt idx="2">
                  <c:v>Early-onset sepsis</c:v>
                </c:pt>
                <c:pt idx="3">
                  <c:v>Cardiogenic shock</c:v>
                </c:pt>
                <c:pt idx="4">
                  <c:v>PDA / 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Calibri"/>
              </a:rPr>
              <a:t>Team 218 — Global-Therma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u="none">
                <a:solidFill>
                  <a:srgbClr val="B3CCFF"/>
                </a:solidFill>
                <a:latin typeface="Calibri"/>
              </a:rPr>
              <a:t>Infrared thermography-enabled NICU monitoring
for early detection of circulatory deterioration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30352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Calibri"/>
              </a:rPr>
              <a:t>✅  InterSystems Prize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ia_nicu-dfid-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1" u="none">
                <a:solidFill>
                  <a:srgbClr val="FFFFFF"/>
                </a:solidFill>
                <a:latin typeface="Georgia"/>
              </a:rPr>
              <a:t>Look at him. Just days old, and already fighting for his life.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GLOBAL NEONATAL DEATHS FROM CIRCULATORY FAILURE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09728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u="none">
                <a:solidFill>
                  <a:srgbClr val="1A2332"/>
                </a:solidFill>
                <a:latin typeface="Calibri"/>
              </a:rPr>
              <a:t>680,000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u="none">
                <a:solidFill>
                  <a:srgbClr val="64748B"/>
                </a:solidFill>
                <a:latin typeface="Calibri"/>
              </a:rPr>
              <a:t>deaths per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91640"/>
            <a:ext cx="228600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1A2332"/>
                </a:solidFill>
                <a:latin typeface="Calibri"/>
              </a:rPr>
              <a:t>Late-onset sepsis  34%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194560"/>
            <a:ext cx="228600" cy="2286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1A2332"/>
                </a:solidFill>
                <a:latin typeface="Calibri"/>
              </a:rPr>
              <a:t>NEC  22%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697480"/>
            <a:ext cx="228600" cy="228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1A2332"/>
                </a:solidFill>
                <a:latin typeface="Calibri"/>
              </a:rPr>
              <a:t>Early-onset sepsis  18%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200400"/>
            <a:ext cx="228600" cy="22860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1A2332"/>
                </a:solidFill>
                <a:latin typeface="Calibri"/>
              </a:rPr>
              <a:t>Cardiogenic shock  12%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703320"/>
            <a:ext cx="228600" cy="228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1A2332"/>
                </a:solidFill>
                <a:latin typeface="Calibri"/>
              </a:rPr>
              <a:t>PDA / other  14%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u="none">
                <a:solidFill>
                  <a:srgbClr val="0D8A8A"/>
                </a:solidFill>
                <a:latin typeface="Calibri"/>
              </a:rPr>
              <a:t>NeoTherm detects the thermal signature common to all five.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 u="none">
                <a:solidFill>
                  <a:srgbClr val="1A2332"/>
                </a:solidFill>
                <a:latin typeface="Calibri Light"/>
              </a:rPr>
              <a:t>Current diagnostics are nonspecific, variable, or late.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926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847088"/>
            <a:ext cx="3346704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u="none">
                <a:solidFill>
                  <a:srgbClr val="1A2332"/>
                </a:solidFill>
                <a:latin typeface="Calibri"/>
              </a:rPr>
              <a:t>⏱  Too 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3D4F63"/>
                </a:solidFill>
                <a:latin typeface="Calibri"/>
              </a:rPr>
              <a:t>Blood cultures take 24–72 hours. Clinical signs appear only after deterioration. Spot checks every 1–4 hours miss what happens between readings.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383280" cy="2926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847088"/>
            <a:ext cx="3346704" cy="7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u="none">
                <a:solidFill>
                  <a:srgbClr val="1A2332"/>
                </a:solidFill>
                <a:latin typeface="Calibri"/>
              </a:rPr>
              <a:t>⚠  Too Invasive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3D4F63"/>
                </a:solidFill>
                <a:latin typeface="Calibri"/>
              </a:rPr>
              <a:t>Adhesive probes damage premature skin. Blood draws for CRP / procalcitonin. 78% of NICU devices used off-label.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828800"/>
            <a:ext cx="3383280" cy="2926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7" y="1847088"/>
            <a:ext cx="3346704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u="none">
                <a:solidFill>
                  <a:srgbClr val="1A2332"/>
                </a:solidFill>
                <a:latin typeface="Calibri"/>
              </a:rPr>
              <a:t>◉  Too Nonspecific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60604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3D4F63"/>
                </a:solidFill>
                <a:latin typeface="Calibri"/>
              </a:rPr>
              <a:t>Single-point probes can’t detect spatial gradients. Capillary refill unreliable on dark skin. qSOFA designed for adults.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20640"/>
            <a:ext cx="10728655" cy="64008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u="none">
                <a:solidFill>
                  <a:srgbClr val="C0392B"/>
                </a:solidFill>
                <a:latin typeface="Calibri"/>
              </a:rPr>
              <a:t>The gap: No continuous, non-contact, automated screening.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166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 u="none">
                <a:solidFill>
                  <a:srgbClr val="C0392B"/>
                </a:solidFill>
                <a:latin typeface="Calibri"/>
              </a:rPr>
              <a:t>$2.1B / yr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u="none">
                <a:solidFill>
                  <a:srgbClr val="64748B"/>
                </a:solidFill>
                <a:latin typeface="Calibri"/>
              </a:rPr>
              <a:t>What if we could see the warning signs 5 hours earlier?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 u="none">
                <a:solidFill>
                  <a:srgbClr val="1A2332"/>
                </a:solidFill>
                <a:latin typeface="Georgia"/>
              </a:rPr>
              <a:t>But what if…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840480"/>
            <a:ext cx="7619695" cy="2377440"/>
          </a:xfrm>
          <a:prstGeom prst="roundRect">
            <a:avLst/>
          </a:prstGeom>
          <a:noFill/>
          <a:ln w="254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4389120"/>
            <a:ext cx="670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u="none">
                <a:solidFill>
                  <a:srgbClr val="64748B"/>
                </a:solidFill>
                <a:latin typeface="Calibri"/>
              </a:rPr>
              <a:t>[ Claude GIF / Demo Animation here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0292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u="none">
                <a:solidFill>
                  <a:srgbClr val="DDE2E8"/>
                </a:solidFill>
                <a:latin typeface="Calibri"/>
              </a:rPr>
              <a:t>Replace in Google Slides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THE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 u="none">
                <a:solidFill>
                  <a:srgbClr val="1A2332"/>
                </a:solidFill>
                <a:latin typeface="Calibri Light"/>
              </a:rPr>
              <a:t>One camera. The body tells us everything.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1645920"/>
            <a:ext cx="1097280" cy="914400"/>
          </a:xfrm>
          <a:prstGeom prst="ellipse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2651760"/>
            <a:ext cx="1645920" cy="1645920"/>
          </a:xfrm>
          <a:prstGeom prst="roundRect">
            <a:avLst/>
          </a:prstGeom>
          <a:solidFill>
            <a:srgbClr val="FF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Consolas"/>
              </a:rPr>
              <a:t>CORE
36.8°C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43200"/>
            <a:ext cx="731520" cy="36576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743200"/>
            <a:ext cx="457200" cy="411480"/>
          </a:xfrm>
          <a:prstGeom prst="ellipse">
            <a:avLst/>
          </a:prstGeom>
          <a:solidFill>
            <a:srgbClr val="73B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u="none">
                <a:solidFill>
                  <a:srgbClr val="2563A0"/>
                </a:solidFill>
                <a:latin typeface="Consolas"/>
              </a:rPr>
              <a:t>33.1°C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743200"/>
            <a:ext cx="731520" cy="36576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2743200"/>
            <a:ext cx="457200" cy="411480"/>
          </a:xfrm>
          <a:prstGeom prst="ellipse">
            <a:avLst/>
          </a:prstGeom>
          <a:solidFill>
            <a:srgbClr val="73B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u="none">
                <a:solidFill>
                  <a:srgbClr val="2563A0"/>
                </a:solidFill>
                <a:latin typeface="Consolas"/>
              </a:rPr>
              <a:t>33.6°C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4389120"/>
            <a:ext cx="457200" cy="109728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11680" y="5486400"/>
            <a:ext cx="548640" cy="36576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806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u="none">
                <a:solidFill>
                  <a:srgbClr val="2563A0"/>
                </a:solidFill>
                <a:latin typeface="Consolas"/>
              </a:rPr>
              <a:t>31.5°C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4389120"/>
            <a:ext cx="457200" cy="109728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17520" y="5486400"/>
            <a:ext cx="548640" cy="36576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5806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u="none">
                <a:solidFill>
                  <a:srgbClr val="2563A0"/>
                </a:solidFill>
                <a:latin typeface="Consolas"/>
              </a:rPr>
              <a:t>32.1°C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029200" cy="7315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7373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u="none">
                <a:solidFill>
                  <a:srgbClr val="0D8A8A"/>
                </a:solidFill>
                <a:latin typeface="Consolas"/>
              </a:rPr>
              <a:t>CPTD  =  T_core  −  T_peripheral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603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u="none">
                <a:solidFill>
                  <a:srgbClr val="3D4F63"/>
                </a:solidFill>
                <a:latin typeface="Calibri"/>
              </a:rPr>
              <a:t>Core-to-peripheral temperature difference (CPTD) is a validated marker of circulatory compromise. A rising CPTD indicates peripheral vasoconstriction — the body’s earliest autonomic response to infection or shock.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023360"/>
            <a:ext cx="1143000" cy="100584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06908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u="none">
                <a:solidFill>
                  <a:srgbClr val="0D8A8A"/>
                </a:solidFill>
                <a:latin typeface="Calibri"/>
              </a:rPr>
              <a:t>5 hrs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37083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u="none">
                <a:solidFill>
                  <a:srgbClr val="64748B"/>
                </a:solidFill>
                <a:latin typeface="Calibri"/>
              </a:rPr>
              <a:t>earlier than
clinical signs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023360"/>
            <a:ext cx="1143000" cy="1005840"/>
          </a:xfrm>
          <a:prstGeom prst="roundRect">
            <a:avLst/>
          </a:prstGeom>
          <a:solidFill>
            <a:srgbClr val="EDF7F1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406908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u="none">
                <a:solidFill>
                  <a:srgbClr val="1A7A4C"/>
                </a:solidFill>
                <a:latin typeface="Calibri"/>
              </a:rPr>
              <a:t>83%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437083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u="none">
                <a:solidFill>
                  <a:srgbClr val="64748B"/>
                </a:solidFill>
                <a:latin typeface="Calibri"/>
              </a:rPr>
              <a:t>sensitivity
(Leante-Castellanos)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4023360"/>
            <a:ext cx="1143000" cy="100584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406908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u="none">
                <a:solidFill>
                  <a:srgbClr val="2563A0"/>
                </a:solidFill>
                <a:latin typeface="Calibri"/>
              </a:rPr>
              <a:t>0.3°C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37083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u="none">
                <a:solidFill>
                  <a:srgbClr val="64748B"/>
                </a:solidFill>
                <a:latin typeface="Calibri"/>
              </a:rPr>
              <a:t>resolution
FLIR Lepton 3.5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4023360"/>
            <a:ext cx="1143000" cy="10058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406908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u="none">
                <a:solidFill>
                  <a:srgbClr val="1A2332"/>
                </a:solidFill>
                <a:latin typeface="Calibri"/>
              </a:rPr>
              <a:t>All tones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437083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u="none">
                <a:solidFill>
                  <a:srgbClr val="64748B"/>
                </a:solidFill>
                <a:latin typeface="Calibri"/>
              </a:rPr>
              <a:t>works on
every skin tone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303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64748B"/>
                </a:solidFill>
                <a:latin typeface="Calibri"/>
              </a:rPr>
              <a:t>Leante-Castellanos et al., 2015; Knobel-Dail et al., 2017; Ussat et al., 2018 — see Appendix A5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 u="none">
                <a:solidFill>
                  <a:srgbClr val="1A2332"/>
                </a:solidFill>
                <a:latin typeface="Calibri Light"/>
              </a:rPr>
              <a:t>Four components. Existing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u="none">
                <a:solidFill>
                  <a:srgbClr val="3D4F63"/>
                </a:solidFill>
                <a:latin typeface="Calibri"/>
              </a:rPr>
              <a:t>No new network. No cloud. No custom EHR development.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468880" cy="3291840"/>
          </a:xfrm>
          <a:prstGeom prst="roundRect">
            <a:avLst/>
          </a:prstGeom>
          <a:solidFill>
            <a:srgbClr val="FDF0EE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194560"/>
            <a:ext cx="82296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u="none">
                <a:solidFill>
                  <a:srgbClr val="1A2332"/>
                </a:solidFill>
                <a:latin typeface="Calibri"/>
              </a:rPr>
              <a:t>Incubator
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49039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u="none">
                <a:solidFill>
                  <a:srgbClr val="3D4F63"/>
                </a:solidFill>
                <a:latin typeface="Calibri"/>
              </a:rPr>
              <a:t>Custom-built device
Mounts in incubator lid
FLIR Lepton + compute
&lt;$1,000 / bed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3474720"/>
            <a:ext cx="41148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011680"/>
            <a:ext cx="2468880" cy="3291840"/>
          </a:xfrm>
          <a:prstGeom prst="roundRect">
            <a:avLst/>
          </a:prstGeom>
          <a:solidFill>
            <a:srgbClr val="FDF5E6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51960" y="2194560"/>
            <a:ext cx="822960" cy="64008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u="none">
                <a:solidFill>
                  <a:srgbClr val="1A2332"/>
                </a:solidFill>
                <a:latin typeface="Calibri"/>
              </a:rPr>
              <a:t>On-Device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749039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u="none">
                <a:solidFill>
                  <a:srgbClr val="3D4F63"/>
                </a:solidFill>
                <a:latin typeface="Calibri"/>
              </a:rPr>
              <a:t>Built into the module
YOLOv8-Pose + CPTD
24h local buffer
No separate hardware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43600" y="3474720"/>
            <a:ext cx="41148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2011680"/>
            <a:ext cx="2468880" cy="3291840"/>
          </a:xfrm>
          <a:prstGeom prst="roundRect">
            <a:avLst/>
          </a:prstGeom>
          <a:solidFill>
            <a:srgbClr val="E6F5F5"/>
          </a:solidFill>
          <a:ln w="25400">
            <a:solidFill>
              <a:srgbClr val="0D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32320" y="2194560"/>
            <a:ext cx="822960" cy="640080"/>
          </a:xfrm>
          <a:prstGeom prst="ellipse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u="none">
                <a:solidFill>
                  <a:srgbClr val="1A2332"/>
                </a:solidFill>
                <a:latin typeface="Calibri"/>
              </a:rPr>
              <a:t>InterSystems
Health 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49039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u="none">
                <a:solidFill>
                  <a:srgbClr val="3D4F63"/>
                </a:solidFill>
                <a:latin typeface="Calibri"/>
              </a:rPr>
              <a:t>HL7v2 ↔ FHIR R4
Message queue + audit
Routes to any EHR
Already at Northwell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23960" y="3474720"/>
            <a:ext cx="41148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89720" y="2011680"/>
            <a:ext cx="2468880" cy="329184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12680" y="2194560"/>
            <a:ext cx="822960" cy="640080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u="none">
                <a:solidFill>
                  <a:srgbClr val="1A2332"/>
                </a:solidFill>
                <a:latin typeface="Calibri"/>
              </a:rPr>
              <a:t>EHR Flowsheet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749039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u="none">
                <a:solidFill>
                  <a:srgbClr val="3D4F63"/>
                </a:solidFill>
                <a:latin typeface="Calibri"/>
              </a:rPr>
              <a:t>CPTD as vitals
BPA alerts
Where clinicians look
Epic Wave 2: May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u="none">
                <a:solidFill>
                  <a:srgbClr val="64748B"/>
                </a:solidFill>
                <a:latin typeface="Calibri"/>
              </a:rPr>
              <a:t>NeoTherm deploys once. Health Connect routes everywhere.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C6E6E"/>
                </a:solidFill>
                <a:latin typeface="Calibri"/>
              </a:rPr>
              <a:t>INTERSYSTEMS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 u="none">
                <a:solidFill>
                  <a:srgbClr val="1A2332"/>
                </a:solidFill>
                <a:latin typeface="Calibri Light"/>
              </a:rPr>
              <a:t>Health Connect is the backbone. FHIR R4 is the language.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128016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0C6E6E"/>
                </a:solidFill>
                <a:latin typeface="Calibri"/>
              </a:rPr>
              <a:t>Phase 1 — HL7v2 via Capsule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u="none">
                <a:solidFill>
                  <a:srgbClr val="3D4F63"/>
                </a:solidFill>
                <a:latin typeface="Calibri"/>
              </a:rPr>
              <a:t>Edge box emits HL7v2 ORU. Capsule receives. Health Connect routes to EHR. Zero custom development.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5303520" cy="128016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0C6E6E"/>
                </a:solidFill>
                <a:latin typeface="Calibri"/>
              </a:rPr>
              <a:t>Phase 2–3 — FHIR R4 Direct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u="none">
                <a:solidFill>
                  <a:srgbClr val="3D4F63"/>
                </a:solidFill>
                <a:latin typeface="Calibri"/>
              </a:rPr>
              <a:t>Observations to Health Connect FHIR endpoint. IRIS repository. SMART on FHIR widget in Epic.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5303520" cy="12801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0C6E6E"/>
                </a:solidFill>
                <a:latin typeface="Calibri"/>
              </a:rPr>
              <a:t>EHR Migration 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u="none">
                <a:solidFill>
                  <a:srgbClr val="3D4F63"/>
                </a:solidFill>
                <a:latin typeface="Calibri"/>
              </a:rPr>
              <a:t>Cohen Children’s Epic go-live May 30, 2026. Health Connect routes to legacy before, Epic after. Deploy once.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645920"/>
            <a:ext cx="4846320" cy="475488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8288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66543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8C379"/>
                </a:solidFill>
                <a:latin typeface="Consolas"/>
              </a:rPr>
              <a:t>  "resourceType": "Observation",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304287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8C379"/>
                </a:solidFill>
                <a:latin typeface="Consolas"/>
              </a:rPr>
              <a:t>  "status": "final",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1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  "code":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79775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    "coding": [{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017519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CE9178"/>
                </a:solidFill>
                <a:latin typeface="Consolas"/>
              </a:rPr>
              <a:t>      "system": "http://neotherm.io",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255263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CE9178"/>
                </a:solidFill>
                <a:latin typeface="Consolas"/>
              </a:rPr>
              <a:t>      "code": "cptd",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493007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CE9178"/>
                </a:solidFill>
                <a:latin typeface="Consolas"/>
              </a:rPr>
              <a:t>      "display": "Core-Peripheral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730751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CE9178"/>
                </a:solidFill>
                <a:latin typeface="Consolas"/>
              </a:rPr>
              <a:t>        Temperature Difference"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968495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    }]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206239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  },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443983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  "valueQuantity":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81727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B5CEA8"/>
                </a:solidFill>
                <a:latin typeface="Consolas"/>
              </a:rPr>
              <a:t>    "value": 2.7,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919471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B5CEA8"/>
                </a:solidFill>
                <a:latin typeface="Consolas"/>
              </a:rPr>
              <a:t>    "unit": "degC"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157215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  },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394959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  "interpretation": [{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632703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D700"/>
                </a:solidFill>
                <a:latin typeface="Consolas"/>
              </a:rPr>
              <a:t>    "coding": [{"code": "H"}]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870447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  }]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6108191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LIVE DEMO — NICU CENSUS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 u="none">
                <a:solidFill>
                  <a:srgbClr val="1A2332"/>
                </a:solidFill>
                <a:latin typeface="Calibri Light"/>
              </a:rPr>
              <a:t>12 patients. NeoTherm flags visible at a glance.</a:t>
            </a:r>
          </a:p>
        </p:txBody>
      </p:sp>
      <p:pic>
        <p:nvPicPr>
          <p:cNvPr id="5" name="Picture 4" descr="census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u="none">
                <a:solidFill>
                  <a:srgbClr val="64748B"/>
                </a:solidFill>
                <a:latin typeface="Calibri"/>
              </a:rPr>
              <a:t>Fully interactive Epic Hyperdrive replica. Built this weekend.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C0392B"/>
                </a:solidFill>
                <a:latin typeface="Calibri"/>
              </a:rPr>
              <a:t>LIVE DEMO — BESTPRACTICE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 u="none">
                <a:solidFill>
                  <a:srgbClr val="1A2332"/>
                </a:solidFill>
                <a:latin typeface="Calibri Light"/>
              </a:rPr>
              <a:t>CPTD crosses threshold. Alert fires on chart open.</a:t>
            </a:r>
          </a:p>
        </p:txBody>
      </p:sp>
      <p:pic>
        <p:nvPicPr>
          <p:cNvPr id="5" name="Picture 4" descr="garcia-bpa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u="none">
                <a:solidFill>
                  <a:srgbClr val="64748B"/>
                </a:solidFill>
                <a:latin typeface="Calibri"/>
              </a:rPr>
              <a:t>Hospital-configured Epic BPA rule — no NeoTherm software generates the alert. No FDA clearance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LIVE DEMO — NEOTHERM WIDGET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 u="none">
                <a:solidFill>
                  <a:srgbClr val="1A2332"/>
                </a:solidFill>
                <a:latin typeface="Calibri Light"/>
              </a:rPr>
              <a:t>Dedicated tab. Trend data. Zone breakdown.</a:t>
            </a:r>
          </a:p>
        </p:txBody>
      </p:sp>
      <p:pic>
        <p:nvPicPr>
          <p:cNvPr id="5" name="Picture 4" descr="garcia-neothe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u="none">
                <a:solidFill>
                  <a:srgbClr val="64748B"/>
                </a:solidFill>
                <a:latin typeface="Calibri"/>
              </a:rPr>
              <a:t>SMART on FHIR app queries InterSystems IRIS for Health. Deployed via Epic App Market.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 u="none">
                <a:solidFill>
                  <a:srgbClr val="1A2332"/>
                </a:solidFill>
                <a:latin typeface="Calibri Light"/>
              </a:rPr>
              <a:t>Built-out path to market.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1005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u="none">
                <a:solidFill>
                  <a:srgbClr val="1A2332"/>
                </a:solidFill>
                <a:latin typeface="Calibri"/>
              </a:rPr>
              <a:t>Cohen Children’s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2563A0"/>
                </a:solidFill>
                <a:latin typeface="Calibri"/>
              </a:rPr>
              <a:t>Q4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u="none">
                <a:solidFill>
                  <a:srgbClr val="3D4F63"/>
                </a:solidFill>
                <a:latin typeface="Calibri"/>
              </a:rPr>
              <a:t>1–2 beds. Display-only thermal + zone temps in Epic Flowsheet.
IRB study with Dr. Barry Weinberger as Clinical PI. 200+ neonates target.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109728" cy="1005840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u="none">
                <a:solidFill>
                  <a:srgbClr val="1A2332"/>
                </a:solidFill>
                <a:latin typeface="Calibri"/>
              </a:rPr>
              <a:t>Silent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0D8A8A"/>
                </a:solidFill>
                <a:latin typeface="Calibri"/>
              </a:rPr>
              <a:t>Q1–Q2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u="none">
                <a:solidFill>
                  <a:srgbClr val="3D4F63"/>
                </a:solidFill>
                <a:latin typeface="Calibri"/>
              </a:rPr>
              <a:t>Expand to 6–10 beds. CPTD runs silently — data recorded but alerts NOT shown to clinicians.
Builds unbiased prospective dataset.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109728" cy="100584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u="none">
                <a:solidFill>
                  <a:srgbClr val="1A2332"/>
                </a:solidFill>
                <a:latin typeface="Calibri"/>
              </a:rPr>
              <a:t>Randomized Controlled Trial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6B4C9A"/>
                </a:solidFill>
                <a:latin typeface="Calibri"/>
              </a:rPr>
              <a:t>Q3 2027 – Q1 2028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u="none">
                <a:solidFill>
                  <a:srgbClr val="3D4F63"/>
                </a:solidFill>
                <a:latin typeface="Calibri"/>
              </a:rPr>
              <a:t>Full RCT: intervention arm gets alerts, control arm standard monitoring.
Primary endpoint: time-to-antibiotic. Powers FDA De Novo.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212080"/>
            <a:ext cx="109728" cy="1005840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u="none">
                <a:solidFill>
                  <a:srgbClr val="1A2332"/>
                </a:solidFill>
                <a:latin typeface="Calibri"/>
              </a:rPr>
              <a:t>Commercial Launch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1A7A4C"/>
                </a:solidFill>
                <a:latin typeface="Calibri"/>
              </a:rPr>
              <a:t>2028+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778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u="none">
                <a:solidFill>
                  <a:srgbClr val="3D4F63"/>
                </a:solidFill>
                <a:latin typeface="Calibri"/>
              </a:rPr>
              <a:t>FDA clearance with RCT data. GPO contracts (Vizient, Premier).
20 → 100+ hospitals. Adult ICU expansion ($6–8B TAM).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 u="none">
                <a:solidFill>
                  <a:srgbClr val="1A2332"/>
                </a:solidFill>
                <a:latin typeface="Calibri Light"/>
              </a:rPr>
              <a:t>13.2x return. Pays for itself in 30 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109728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u="none">
                <a:solidFill>
                  <a:srgbClr val="0D8A8A"/>
                </a:solidFill>
                <a:latin typeface="Calibri"/>
              </a:rPr>
              <a:t>$82,500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u="none">
                <a:solidFill>
                  <a:srgbClr val="64748B"/>
                </a:solidFill>
                <a:latin typeface="Calibri"/>
              </a:rPr>
              <a:t>annual subscription per unit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3474720" cy="1097280"/>
          </a:xfrm>
          <a:prstGeom prst="roundRect">
            <a:avLst/>
          </a:prstGeom>
          <a:solidFill>
            <a:srgbClr val="EDF7F1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u="none">
                <a:solidFill>
                  <a:srgbClr val="1A7A4C"/>
                </a:solidFill>
                <a:latin typeface="Calibri"/>
              </a:rPr>
              <a:t>$1.14M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39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u="none">
                <a:solidFill>
                  <a:srgbClr val="64748B"/>
                </a:solidFill>
                <a:latin typeface="Calibri"/>
              </a:rPr>
              <a:t>sepsis cost savings per unit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3474720" cy="109728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u="none">
                <a:solidFill>
                  <a:srgbClr val="2563A0"/>
                </a:solidFill>
                <a:latin typeface="Calibri"/>
              </a:rPr>
              <a:t>$65K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00600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u="none">
                <a:solidFill>
                  <a:srgbClr val="64748B"/>
                </a:solidFill>
                <a:latin typeface="Calibri"/>
              </a:rPr>
              <a:t>CMS RPM reimbursement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737360"/>
            <a:ext cx="6675120" cy="2926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1A2332"/>
                </a:solidFill>
                <a:latin typeface="Calibri"/>
              </a:rPr>
              <a:t>Pays (subscription)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 u="none">
                <a:solidFill>
                  <a:srgbClr val="C0392B"/>
                </a:solidFill>
                <a:latin typeface="Calibri"/>
              </a:rPr>
              <a:t>$82,500 / 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1A2332"/>
                </a:solidFill>
                <a:latin typeface="Calibri"/>
              </a:rPr>
              <a:t>Gets (CMS RPM)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 u="none">
                <a:solidFill>
                  <a:srgbClr val="1A7A4C"/>
                </a:solidFill>
                <a:latin typeface="Calibri"/>
              </a:rPr>
              <a:t>+$31,987 / 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1A2332"/>
                </a:solidFill>
                <a:latin typeface="Calibri"/>
              </a:rPr>
              <a:t>Gets (sepsis savings)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 u="none">
                <a:solidFill>
                  <a:srgbClr val="1A7A4C"/>
                </a:solidFill>
                <a:latin typeface="Calibri"/>
              </a:rPr>
              <a:t>+$1,140,000 / yr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3337560"/>
            <a:ext cx="5943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937760" y="3474720"/>
            <a:ext cx="6309360" cy="50292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0D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0D8A8A"/>
                </a:solidFill>
                <a:latin typeface="Calibri"/>
              </a:rPr>
              <a:t>Net benefit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 u="none">
                <a:solidFill>
                  <a:srgbClr val="0D8A8A"/>
                </a:solidFill>
                <a:latin typeface="Calibri"/>
              </a:rPr>
              <a:t>$1,089,487 / yr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5029200"/>
            <a:ext cx="1920240" cy="82296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u="none">
                <a:solidFill>
                  <a:srgbClr val="0D8A8A"/>
                </a:solidFill>
                <a:latin typeface="Calibri"/>
              </a:rPr>
              <a:t>13.2x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5376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u="none">
                <a:solidFill>
                  <a:srgbClr val="64748B"/>
                </a:solidFill>
                <a:latin typeface="Calibri"/>
              </a:rPr>
              <a:t>ROI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5029200"/>
            <a:ext cx="1920240" cy="822960"/>
          </a:xfrm>
          <a:prstGeom prst="roundRect">
            <a:avLst/>
          </a:prstGeom>
          <a:solidFill>
            <a:srgbClr val="EDF7F1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u="none">
                <a:solidFill>
                  <a:srgbClr val="1A7A4C"/>
                </a:solidFill>
                <a:latin typeface="Calibri"/>
              </a:rPr>
              <a:t>30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5376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u="none">
                <a:solidFill>
                  <a:srgbClr val="64748B"/>
                </a:solidFill>
                <a:latin typeface="Calibri"/>
              </a:rPr>
              <a:t>payback period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5029200"/>
            <a:ext cx="1920240" cy="82296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u="none">
                <a:solidFill>
                  <a:srgbClr val="2563A0"/>
                </a:solidFill>
                <a:latin typeface="Calibri"/>
              </a:rPr>
              <a:t>82%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5376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u="none">
                <a:solidFill>
                  <a:srgbClr val="64748B"/>
                </a:solidFill>
                <a:latin typeface="Calibri"/>
              </a:rPr>
              <a:t>gross margin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 u="none">
                <a:solidFill>
                  <a:srgbClr val="1A2332"/>
                </a:solidFill>
                <a:latin typeface="Calibri Light"/>
              </a:rPr>
              <a:t>$2.1 billion problem. Zero competitors. We are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FDF0EE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u="none">
                <a:solidFill>
                  <a:srgbClr val="C0392B"/>
                </a:solidFill>
                <a:latin typeface="Calibri"/>
              </a:rPr>
              <a:t>$2.14B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u="none">
                <a:solidFill>
                  <a:srgbClr val="C0392B"/>
                </a:solidFill>
                <a:latin typeface="Calibri"/>
              </a:rPr>
              <a:t>Annual US Cost Burden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4389120" cy="6400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6323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TAM   $1.6B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u="none">
                <a:solidFill>
                  <a:srgbClr val="FFFFFF"/>
                </a:solidFill>
                <a:latin typeface="Calibri"/>
              </a:rPr>
              <a:t>All US NICU beds (16,000+)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794759"/>
            <a:ext cx="3474720" cy="64008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840479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SAM   $400M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114799"/>
            <a:ext cx="3291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u="none">
                <a:solidFill>
                  <a:srgbClr val="FFFFFF"/>
                </a:solidFill>
                <a:latin typeface="Calibri"/>
              </a:rPr>
              <a:t>Level III–IV NICUs (4,800 beds)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571999"/>
            <a:ext cx="2560320" cy="640080"/>
          </a:xfrm>
          <a:prstGeom prst="round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4617719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Calibri"/>
              </a:rPr>
              <a:t>SOM   $33M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892039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u="none">
                <a:solidFill>
                  <a:srgbClr val="FFFFFF"/>
                </a:solidFill>
                <a:latin typeface="Calibri"/>
              </a:rPr>
              <a:t>First 400 beds by 2030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 u="none">
                <a:solidFill>
                  <a:srgbClr val="0D8A8A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089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u="none">
                <a:solidFill>
                  <a:srgbClr val="FFFFFF"/>
                </a:solidFill>
                <a:latin typeface="Calibri"/>
              </a:rPr>
              <a:t>commercial thermal camera
products for NICU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8404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u="none">
                <a:solidFill>
                  <a:srgbClr val="A0AEBF"/>
                </a:solidFill>
                <a:latin typeface="Calibri"/>
              </a:rPr>
              <a:t>“No commercial system exists for continuous non-contact thermal monitoring in the NICU.”
— Frontiers in Pediatrics, 2023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0292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u="none">
                <a:solidFill>
                  <a:srgbClr val="0D8A8A"/>
                </a:solidFill>
                <a:latin typeface="Calibri"/>
              </a:rPr>
              <a:t>Adult ICU expansion
$6–8B TAM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NORTHWELL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 u="none">
                <a:solidFill>
                  <a:srgbClr val="1A2332"/>
                </a:solidFill>
                <a:latin typeface="Calibri Light"/>
              </a:rPr>
              <a:t>Champions. Infrastructure. Ready.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20116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664208"/>
            <a:ext cx="4992624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u="none">
                <a:solidFill>
                  <a:srgbClr val="0D8A8A"/>
                </a:solidFill>
                <a:latin typeface="Calibri"/>
              </a:rPr>
              <a:t>Clinical Champion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u="none">
                <a:solidFill>
                  <a:srgbClr val="1A2332"/>
                </a:solidFill>
                <a:latin typeface="Georgia"/>
              </a:rPr>
              <a:t>Barry Weinberger, 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u="none">
                <a:solidFill>
                  <a:srgbClr val="3D4F63"/>
                </a:solidFill>
                <a:latin typeface="Calibri"/>
              </a:rPr>
              <a:t>Assoc. Director, Neonatology — Cohen Children’s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0D8A8A"/>
                </a:solidFill>
                <a:latin typeface="Calibri"/>
              </a:rPr>
              <a:t>NICU access  ·  Clinical PI  ·  IRB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029200" cy="20116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858768"/>
            <a:ext cx="4992624" cy="5486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u="none">
                <a:solidFill>
                  <a:srgbClr val="2563A0"/>
                </a:solidFill>
                <a:latin typeface="Calibri"/>
              </a:rPr>
              <a:t>Innovation Champion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u="none">
                <a:solidFill>
                  <a:srgbClr val="1A2332"/>
                </a:solidFill>
                <a:latin typeface="Georgia"/>
              </a:rPr>
              <a:t>Theodoros Zanos, PhD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u="none">
                <a:solidFill>
                  <a:srgbClr val="3D4F63"/>
                </a:solidFill>
                <a:latin typeface="Calibri"/>
              </a:rPr>
              <a:t>AVP, Exploration &amp; Innovation — Health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2563A0"/>
                </a:solidFill>
                <a:latin typeface="Calibri"/>
              </a:rPr>
              <a:t>16-person team  ·  IT approvals  ·  Health Connect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5212080" cy="32004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37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u="none">
                <a:solidFill>
                  <a:srgbClr val="1A2332"/>
                </a:solidFill>
                <a:latin typeface="Calibri"/>
              </a:rPr>
              <a:t>Infrastructure Already In 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u="none">
                <a:solidFill>
                  <a:srgbClr val="1A2332"/>
                </a:solidFill>
                <a:latin typeface="Calibri"/>
              </a:rPr>
              <a:t>InterSystems Health 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Message broker (live)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32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u="none">
                <a:solidFill>
                  <a:srgbClr val="1A2332"/>
                </a:solidFill>
                <a:latin typeface="Calibri"/>
              </a:rPr>
              <a:t>Capsule MDI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532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Device integration (live)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169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u="none">
                <a:solidFill>
                  <a:srgbClr val="1A2332"/>
                </a:solidFill>
                <a:latin typeface="Calibri"/>
              </a:rPr>
              <a:t>Epic Hyperdrive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9169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Go-live May 30,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009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u="none">
                <a:solidFill>
                  <a:srgbClr val="1A2332"/>
                </a:solidFill>
                <a:latin typeface="Calibri"/>
              </a:rPr>
              <a:t>FHIR R4 Endpoint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3009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Via Health 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6850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u="none">
                <a:solidFill>
                  <a:srgbClr val="1A2332"/>
                </a:solidFill>
                <a:latin typeface="Calibri"/>
              </a:rPr>
              <a:t>Network / Wi-Fi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6850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Existing NICU infra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120640"/>
            <a:ext cx="5212080" cy="73152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0D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1663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0C6E6E"/>
                </a:solidFill>
                <a:latin typeface="Calibri"/>
              </a:rPr>
              <a:t>Fully reversible: NeoTherm adds to existing infrastructure. Unplug and the NICU returns to normal.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REGULATORY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 u="none">
                <a:solidFill>
                  <a:srgbClr val="1A2332"/>
                </a:solidFill>
                <a:latin typeface="Calibri Light"/>
              </a:rPr>
              <a:t>Phase 1 needs no FDA. We start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548640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Calibri"/>
              </a:rPr>
              <a:t>Phase 1: Display &amp; Record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2926080" cy="411480"/>
          </a:xfrm>
          <a:prstGeom prst="roundRect">
            <a:avLst/>
          </a:prstGeom>
          <a:solidFill>
            <a:srgbClr val="F8F9FB"/>
          </a:solidFill>
          <a:ln w="25400"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50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u="none">
                <a:solidFill>
                  <a:srgbClr val="2563A0"/>
                </a:solidFill>
                <a:latin typeface="Calibri"/>
              </a:rPr>
              <a:t>NO FDA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Thermal image + zone temps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278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Displayed as “adjunctive”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7530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No diagnostic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2277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Clinician interprets all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702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IRB oversight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474720" cy="548640"/>
          </a:xfrm>
          <a:prstGeom prst="round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Calibri"/>
              </a:rPr>
              <a:t>Phase 2: CPTD Trending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59" y="2331720"/>
            <a:ext cx="2926080" cy="411480"/>
          </a:xfrm>
          <a:prstGeom prst="roundRect">
            <a:avLst/>
          </a:prstGeom>
          <a:solidFill>
            <a:srgbClr val="F8F9FB"/>
          </a:solidFill>
          <a:ln w="25400">
            <a:solidFill>
              <a:srgbClr val="0D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2350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u="none">
                <a:solidFill>
                  <a:srgbClr val="0D8A8A"/>
                </a:solidFill>
                <a:latin typeface="Calibri"/>
              </a:rPr>
              <a:t>ENFORCEMENT DISCRETION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Calculated CPTD 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2278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Threshold-based alerting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57530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Clinical Decision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92277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FDA CDS exclusion criteria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2702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Transparent algorithm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59" y="1645920"/>
            <a:ext cx="3474720" cy="548640"/>
          </a:xfrm>
          <a:prstGeom prst="round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Calibri"/>
              </a:rPr>
              <a:t>Phase 3: AI Sepsis Warning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2331720"/>
            <a:ext cx="2926080" cy="411480"/>
          </a:xfrm>
          <a:prstGeom prst="roundRect">
            <a:avLst/>
          </a:prstGeom>
          <a:solidFill>
            <a:srgbClr val="F8F9FB"/>
          </a:solidFill>
          <a:ln w="2540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2350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u="none">
                <a:solidFill>
                  <a:srgbClr val="6B4C9A"/>
                </a:solidFill>
                <a:latin typeface="Calibri"/>
              </a:rPr>
              <a:t>510(k) / DE NOVO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ML-based risk prediction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32278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Autonomous alert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357530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Requires clinical trial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9" y="392277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RCT powers submission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9" y="42702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Predicate: InSightIQ (De Novo)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852160"/>
            <a:ext cx="3474720" cy="13716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60" y="5852160"/>
            <a:ext cx="3474720" cy="137160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5852160"/>
            <a:ext cx="3474720" cy="13716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u="none">
                <a:solidFill>
                  <a:srgbClr val="2563A0"/>
                </a:solidFill>
                <a:latin typeface="Calibri"/>
              </a:rPr>
              <a:t>NOW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u="none">
                <a:solidFill>
                  <a:srgbClr val="0D8A8A"/>
                </a:solidFill>
                <a:latin typeface="Calibri"/>
              </a:rPr>
              <a:t>2027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u="none">
                <a:solidFill>
                  <a:srgbClr val="6B4C9A"/>
                </a:solidFill>
                <a:latin typeface="Calibri"/>
              </a:rPr>
              <a:t>2028+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C6E6E"/>
                </a:solidFill>
                <a:latin typeface="Calibri"/>
              </a:rPr>
              <a:t>THE INTERSYSTEMS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 u="none">
                <a:solidFill>
                  <a:srgbClr val="1A2332"/>
                </a:solidFill>
                <a:latin typeface="Calibri Light"/>
              </a:rPr>
              <a:t>Why Global-Therma wins.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657600" cy="146304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0C6E6E"/>
                </a:solidFill>
                <a:latin typeface="Calibri"/>
              </a:rPr>
              <a:t>Real Interoperability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Not a wrapper. Health Connect is the production message broker at Northwell — 17,000+ clinicians, 23 hospitals.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645920"/>
            <a:ext cx="3657600" cy="146304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783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0C6E6E"/>
                </a:solidFill>
                <a:latin typeface="Calibri"/>
              </a:rPr>
              <a:t>HL7v2 + FHIR R4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488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Day-one HL7v2 via Capsule for immediate deployment. FHIR R4 for modern EHR integration. Both through Health Connect.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3657600" cy="146304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0C6E6E"/>
                </a:solidFill>
                <a:latin typeface="Calibri"/>
              </a:rPr>
              <a:t>EHR Migration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Cohen Children’s transitions from Allscripts Sunrise to Epic May 2026. Health Connect routes messages to either. Deploy once.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383280"/>
            <a:ext cx="3657600" cy="146304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0C6E6E"/>
                </a:solidFill>
                <a:latin typeface="Calibri"/>
              </a:rPr>
              <a:t>IRIS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886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CPTD history stored in InterSystems IRIS for Health. Powers trend analysis, ML training, and SMART on FHIR queries.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743200" cy="32004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0D8A8A"/>
                </a:solidFill>
                <a:latin typeface="Calibri"/>
              </a:rPr>
              <a:t>✓ Health 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21991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0D8A8A"/>
                </a:solidFill>
                <a:latin typeface="Calibri"/>
              </a:rPr>
              <a:t>✓ FHIR R4 Facade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660903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0D8A8A"/>
                </a:solidFill>
                <a:latin typeface="Calibri"/>
              </a:rPr>
              <a:t>✓ IRIS for 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099815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0D8A8A"/>
                </a:solidFill>
                <a:latin typeface="Calibri"/>
              </a:rPr>
              <a:t>✓ SMART on FHIR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53872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0D8A8A"/>
                </a:solidFill>
                <a:latin typeface="Calibri"/>
              </a:rPr>
              <a:t>✓ Message queuing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9776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0D8A8A"/>
                </a:solidFill>
                <a:latin typeface="Calibri"/>
              </a:rPr>
              <a:t>✓ Multi-EHR routing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5029200"/>
            <a:ext cx="2743200" cy="914400"/>
          </a:xfrm>
          <a:prstGeom prst="round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50749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Calibri"/>
              </a:rPr>
              <a:t>Not a prototype.
Production architecture at the largest US health system.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u="none">
                <a:solidFill>
                  <a:srgbClr val="64748B"/>
                </a:solidFill>
                <a:latin typeface="Calibri"/>
              </a:rPr>
              <a:t>680,000 newborns die from circulatory failure every year…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 u="none">
                <a:solidFill>
                  <a:srgbClr val="1A2332"/>
                </a:solidFill>
                <a:latin typeface="Georgia"/>
              </a:rPr>
              <a:t>We just need to plug it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91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u="none">
                <a:solidFill>
                  <a:srgbClr val="0D8A8A"/>
                </a:solidFill>
                <a:latin typeface="Calibri"/>
              </a:rPr>
              <a:t>5 hrs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u="none">
                <a:solidFill>
                  <a:srgbClr val="64748B"/>
                </a:solidFill>
                <a:latin typeface="Calibri"/>
              </a:rPr>
              <a:t>earlier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3291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u="none">
                <a:solidFill>
                  <a:srgbClr val="0D8A8A"/>
                </a:solidFill>
                <a:latin typeface="Calibri"/>
              </a:rPr>
              <a:t>13.2x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u="none">
                <a:solidFill>
                  <a:srgbClr val="64748B"/>
                </a:solidFill>
                <a:latin typeface="Calibri"/>
              </a:rPr>
              <a:t>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u="none">
                <a:solidFill>
                  <a:srgbClr val="0D8A8A"/>
                </a:solidFill>
                <a:latin typeface="Calibri"/>
              </a:rPr>
              <a:t>$0 infra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u="none">
                <a:solidFill>
                  <a:srgbClr val="64748B"/>
                </a:solidFill>
                <a:latin typeface="Calibri"/>
              </a:rPr>
              <a:t>new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291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u="none">
                <a:solidFill>
                  <a:srgbClr val="0D8A8A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u="none">
                <a:solidFill>
                  <a:srgbClr val="64748B"/>
                </a:solidFill>
                <a:latin typeface="Calibri"/>
              </a:rPr>
              <a:t>competitors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u="none">
                <a:solidFill>
                  <a:srgbClr val="3D4F63"/>
                </a:solidFill>
                <a:latin typeface="Calibri"/>
              </a:rPr>
              <a:t>One camera. InterSystems Health Connect. Every NICU in America.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u="none">
                <a:solidFill>
                  <a:srgbClr val="1A2332"/>
                </a:solidFill>
                <a:latin typeface="Calibri"/>
              </a:rPr>
              <a:t>Global-Therma. Early detection saves lives.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u="none">
                <a:solidFill>
                  <a:srgbClr val="6696D6"/>
                </a:solidFill>
                <a:latin typeface="Calibri"/>
              </a:rPr>
              <a:t>TEAM 218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u="none">
                <a:solidFill>
                  <a:srgbClr val="FFFFFF"/>
                </a:solidFill>
                <a:latin typeface="Calibri"/>
              </a:rPr>
              <a:t>Global-Therma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560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Diego Pedregal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A0BEE0"/>
                </a:solidFill>
                <a:latin typeface="Calibri"/>
              </a:rPr>
              <a:t>CEO /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560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Marcos Rodriguez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A0BEE0"/>
                </a:solidFill>
                <a:latin typeface="Calibri"/>
              </a:rPr>
              <a:t>CTO /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15467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Rida Baquai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1546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A0BEE0"/>
                </a:solidFill>
                <a:latin typeface="Calibri"/>
              </a:rPr>
              <a:t>Clinical / Neonatology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15467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Michael Meehan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1546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A0BEE0"/>
                </a:solidFill>
                <a:latin typeface="Calibri"/>
              </a:rPr>
              <a:t>Business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7490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Taylir Speer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A0BEE0"/>
                </a:solidFill>
                <a:latin typeface="Calibri"/>
              </a:rPr>
              <a:t>Regulatory /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490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Jedd Horowitz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A0BEE0"/>
                </a:solidFill>
                <a:latin typeface="Calibri"/>
              </a:rPr>
              <a:t>InterSystems / Infra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Calibri"/>
              </a:rPr>
              <a:t>✓  InterSystems Prize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