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A1 — FULL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End-to-end data flow: device to EHR.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0C6E6E"/>
                </a:solidFill>
                <a:latin typeface="Calibri"/>
              </a:rPr>
              <a:t>Edge / Incubator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FLIR Lepton 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160×120 thermal sensor
9 Hz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69748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697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5468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Coral Edge TPU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YOLOv8-Pose inference
On-device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02336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8056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53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Local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24h circular buffer
SQLite + raw frames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534924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08960" y="2926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0C6E6E"/>
                </a:solidFill>
                <a:latin typeface="Calibri"/>
              </a:rPr>
              <a:t>Transport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82880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HL7v2 ORU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Observation Result
Unsolicited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69748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697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15468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2278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FHIR R4 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Observation resource
HTTPS POST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023360"/>
            <a:ext cx="731520" cy="22860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P2–3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48056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Capsule MDI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846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Medical Device
Integration 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534924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5349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080760" y="2926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0C6E6E"/>
                </a:solidFill>
                <a:latin typeface="Calibri"/>
              </a:rPr>
              <a:t>Integration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182880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Health Connect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Message broker
Routing + transform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69748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2697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15468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2278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IRIS for 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FHIR repository
Clinical data store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4023360"/>
            <a:ext cx="731520" cy="22860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P2–3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48056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553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Audit / Queue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846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Message persistence
Compliance logging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534924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5349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9052560" y="292608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u="none">
                <a:solidFill>
                  <a:srgbClr val="0C6E6E"/>
                </a:solidFill>
                <a:latin typeface="Calibri"/>
              </a:rPr>
              <a:t>EHR / Clinical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81160" y="182880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Epic Flowsheet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CPTD as vital sign
Zone temperatures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18520" y="2697480"/>
            <a:ext cx="731520" cy="2286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18520" y="2697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P1–3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1160" y="315468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32278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BPA Alert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Best Practice Advisory
Threshold-triggered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018520" y="4023360"/>
            <a:ext cx="731520" cy="22860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185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P2–3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81160" y="4480560"/>
            <a:ext cx="2651760" cy="1188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72600" y="4553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332"/>
                </a:solidFill>
                <a:latin typeface="Calibri"/>
              </a:rPr>
              <a:t>SMART on FHIR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600" y="4846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3D4F63"/>
                </a:solidFill>
                <a:latin typeface="Calibri"/>
              </a:rPr>
              <a:t>NeoTherm widget
Trend + heatmap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018520" y="5349240"/>
            <a:ext cx="731520" cy="228600"/>
          </a:xfrm>
          <a:prstGeom prst="round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18520" y="5349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A2 — HL7v2 MESSAGE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ORU^R01 observation message for CPTD transmission.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MSH|^~\&amp;|NEOTHERM|NICU_BED_3|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HEALTHCONNECT|NORTHWELL|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20260815143022||ORU^R01|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MSG00001|P|2.5.1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9689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PID|1||MRN12345^^^MRN||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GARCIA^ELENA||20260101|F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3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OBR|1||ORD001|CPTD^Core-Periph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7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  Temp Diff^NEOTHERM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1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OBX|1|NM|CPTD^Core-Peripheral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Temperature Difference^NEOTHERM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59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||2.7|degC|0.0-2.0|H|||F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3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OBX|2|NM|TCORE^Core Temp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98847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  ^NEOTHERM||36.8|degC||||F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36591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OBX|3|NM|TPERIPH^Peripheral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74335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  Temp^NEOTHERM||34.1|degC||||F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63040"/>
            <a:ext cx="3474720" cy="118872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2563A0"/>
                </a:solidFill>
                <a:latin typeface="Calibri"/>
              </a:rPr>
              <a:t>Transport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TCP/IP via
Capsule MDI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34640"/>
            <a:ext cx="3474720" cy="118872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0D8A8A"/>
                </a:solidFill>
                <a:latin typeface="Calibri"/>
              </a:rPr>
              <a:t>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Health Connect
message broker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206240"/>
            <a:ext cx="3474720" cy="1188720"/>
          </a:xfrm>
          <a:prstGeom prst="roundRect">
            <a:avLst/>
          </a:prstGeom>
          <a:solidFill>
            <a:srgbClr val="F8F9FB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2976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7A4C"/>
                </a:solidFill>
                <a:latin typeface="Calibri"/>
              </a:rPr>
              <a:t>Frequency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63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Every 60 seconds
(configurable)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A3 — FHIR R4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Observation resource for CPTD.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51206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"resourceType": "Observation",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"id": "cptd-20260815-143022",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  "status": "final",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96896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"category": [{"coding": [{"system":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"http://terminology.hl7.org/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3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CodeSystem/observation-category",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7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E9178"/>
                </a:solidFill>
                <a:latin typeface="Consolas"/>
              </a:rPr>
              <a:t>    "code": "vital-signs"}]}],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1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"code": {"coding": [{"system":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  "http://neotherm.io/fhir/codes",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59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  "code": "cptd",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3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  "display": "Core-Peripheral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98847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      Temperature Difference"}]},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36591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"subject": {"reference":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74335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    "Patient/garcia-elena"},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79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"effectiveDateTime":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49823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    "2026-08-15T14:30:22Z",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87567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"valueQuantity":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25311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  "value": 2.7,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63055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  "unit": "degC",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400799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  "system": "http://unitsofmeasure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638543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      .org", "code": "Cel"},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876287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  "interpretation": [{"coding":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7114031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    [{"code": "H",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7351775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D4A5FF"/>
                </a:solidFill>
                <a:latin typeface="Consolas"/>
              </a:rPr>
              <a:t>    "display": "High"}]}]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7589519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A4 — REGULATORY DECISION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FDA classification analysis for each phase.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926080"/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Is NeoTherm a medical device?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Phase 1: No (display only)</a:t>
                      </a:r>
                    </a:p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Phase 2-3: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21 CFR 820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Does Phase 1 make a diagnosis?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No. Displays temperatures only.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FDA CDS Guidance 2022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Is CPTD a new biomarker?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No. Validated in literature since 1991.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Leante-Castellanos 2015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Does Phase 2 qualify for CDS exclusion?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Yes, if transparent + clinician review.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21st Century Cures §3060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What class is Phase 3?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Class II (510(k) or De Novo)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FDA Product Code QMT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Is there a predicate device?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InSightIQ (DEN200063) — De Novo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FDA De Novo Database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Is the camera FDA-cleared?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FLIR Lepton is non-medical; system-level clearance needed.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FDA 510(k) Database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What about off-label thermal use?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78% of NICU devices used off-label (AAP 2015).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AAP Technical Report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Who is the regulatory contact?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Taylir Speer — regulatory strategy lead.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A5 — CLINICAL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Published evidence supporting CPTD as a sepsis biomarker.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CPTD predicts sepsis 5h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Core-peripheral temp gradient widened 5.2h before clinical diagnosis.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Leante-Castellanos 2015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83% sensitivity for LOS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CPTD &gt;2°C had 83% sensitivity, 75% specificity for late-onset sepsis.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Leante-Castellanos 2015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Infrared matches contact probes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Non-contact IR agreed within 0.2°C of skin contact sensors.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Knobel-Dail 2017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CPTD correlates with NEC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Peripheral cooling preceded NEC diagnosis by 6–12 hours.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Ussat 2018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Works across all skin 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Thermal IR emissivity 0.97–0.98 regardless of melanin content.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FLIR Technical Note 2020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Continuous &gt; intermittent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Continuous monitoring detected 3x more hypothermic episodes.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Knobel-Dail 2017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Cost of missed sepsis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Each sepsis episode adds $170,000 in NICU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Swanson 2018; Rolnitsky 2023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CPTD validated in premature + term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Studies include 24–40 weeks GA across multiple centers.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Multiple (see references)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A6 — CONTRACT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Nine agreements required before pilot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BAA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Business Associate
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HIPAA-required for
any PHI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7" y="1481328"/>
            <a:ext cx="3529584" cy="5486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IRB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Institutional Review
Board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Display-only study
Exempt or Expedited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7" y="1481328"/>
            <a:ext cx="352958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IT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Northwell InfoSec
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Network scan, pentest
Data flow diagram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127248"/>
            <a:ext cx="3529584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MSA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Master Services
Agreement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Commercial terms
Liability, IP, term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10896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7" y="3127248"/>
            <a:ext cx="3529584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DUA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Data Use
Agreement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De-identified data
for ML 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10896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7" y="3127248"/>
            <a:ext cx="3529584" cy="54864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Clinical Eng.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Biomed Engineering
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Electrical safety
IEC 60601 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75488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773168"/>
            <a:ext cx="3529584" cy="54864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E&amp;O Insurance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Errors &amp; Omissions
Professional Liability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$2M per occurrence
$5M aggregate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475488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15967" y="4773168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Cyber Insurance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Cybersecurity
Liability 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Required by
Northwell IT policy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9" y="4754880"/>
            <a:ext cx="3566160" cy="1463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5007" y="4773168"/>
            <a:ext cx="3529584" cy="5486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A2332"/>
                </a:solidFill>
                <a:latin typeface="Calibri"/>
              </a:rPr>
              <a:t>Product Liability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3D4F63"/>
                </a:solidFill>
                <a:latin typeface="Calibri"/>
              </a:rPr>
              <a:t>General Liability
+ Product 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64748B"/>
                </a:solidFill>
                <a:latin typeface="Calibri"/>
              </a:rPr>
              <a:t>Non-diagnostic claim
reduces exposure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35040"/>
            <a:ext cx="11064240" cy="50292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u="none">
                <a:solidFill>
                  <a:srgbClr val="0C6E6E"/>
                </a:solidFill>
                <a:latin typeface="Calibri"/>
              </a:rPr>
              <a:t>Adjunctive Tool Classification: Phase 1 is display-only, reducing insurance and liability requirements significantly.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A7 — NORTHWELL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Existing systems at Cohen Children’s Medical Center.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92608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InterSystems Health 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HL7v2 / FHIR message broker, routing engine, audit log.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Northwell IT (confirmed by Zanos team)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Capsule MDI (Qualcomm)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Medical device integration gateway for bedside monitors.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Northwell Biomed Engineering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Allscripts Sunrise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Current EHR at Cohen Children’s. Transitions to Epic May 2026.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Northwell CIO Office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Epic Hyperdrive (incoming)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New EHR. Flowsheet, BPA, SMART on FHIR support.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Epic Wave 2 deployment plan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InterSystems IRIS for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FHIR R4 data repository. Powers analytics + SMART apps.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Northwell Health AI team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0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0C6E6E"/>
                </a:solidFill>
                <a:latin typeface="Calibri"/>
              </a:rPr>
              <a:t>EHR Transition: Cohen Children’s moves from Allscripts Sunrise to Epic Hyperdrive on May 30, 2026. Health Connect abstracts this transition — NeoTherm deploys once and messages route to whichever EHR is active. This is a core InterSystems value proposition.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A8 — HARDWARE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Bill of materials: prototype to scale.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00200"/>
                <a:gridCol w="1600200"/>
              </a:tblGrid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Prototype Cost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 Scale (1000+)</a:t>
                      </a:r>
                    </a:p>
                  </a:txBody>
                  <a:tcPr>
                    <a:solidFill>
                      <a:srgbClr val="0D8A8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FLIR Lepton 3.5 (160×120)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$120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Coral Edge TPU (USB)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Raspberry Pi CM4 (4GB)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$40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Custom PCB + enclosure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Power supply + cabling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$15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Assembly + QC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$150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$20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8A8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D8A8A"/>
                          </a:solidFill>
                          <a:latin typeface="Calibri"/>
                        </a:rPr>
                        <a:t>$755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D8A8A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46304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 Cost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1 (prototype)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$755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10 (pilot)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1,000+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90%+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029200"/>
            <a:ext cx="2926080" cy="1005840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C0392B"/>
                </a:solidFill>
                <a:latin typeface="Calibri"/>
              </a:rPr>
              <a:t>&lt;$1K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prototype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029200"/>
            <a:ext cx="2926080" cy="10058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D8A8A"/>
                </a:solidFill>
                <a:latin typeface="Calibri"/>
              </a:rPr>
              <a:t>$275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at 1,000+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029200"/>
            <a:ext cx="2926080" cy="1005840"/>
          </a:xfrm>
          <a:prstGeom prst="roundRect">
            <a:avLst/>
          </a:prstGeom>
          <a:solidFill>
            <a:srgbClr val="EDF7F1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1A7A4C"/>
                </a:solidFill>
                <a:latin typeface="Calibri"/>
              </a:rPr>
              <a:t>90%+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gross margin at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0D8A8A"/>
                </a:solidFill>
                <a:latin typeface="Calibri"/>
              </a:rPr>
              <a:t>APPENDIX A9 — LENGTH-OF-STAY COST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u="none">
                <a:solidFill>
                  <a:srgbClr val="1A2332"/>
                </a:solidFill>
                <a:latin typeface="Calibri Light"/>
              </a:rPr>
              <a:t>Conservative model: earlier detection reduces LOS and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6459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64208"/>
            <a:ext cx="4992624" cy="5486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2563A0"/>
                </a:solidFill>
                <a:latin typeface="Calibri"/>
              </a:rPr>
              <a:t>Source: Swanson et al.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Neonatal sepsis episodes cost avg $170,927 more than matched controls
• Average additional LOS: 22.4 days
• Based on 41,666 NICU admissions across 348 US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16459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3493008"/>
            <a:ext cx="4992624" cy="54864"/>
          </a:xfrm>
          <a:prstGeom prst="rect">
            <a:avLst/>
          </a:prstGeom>
          <a:solidFill>
            <a:srgbClr val="0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0D8A8A"/>
                </a:solidFill>
                <a:latin typeface="Calibri"/>
              </a:rPr>
              <a:t>Source: Rolnitsky et al.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3D4F63"/>
                </a:solidFill>
                <a:latin typeface="Calibri"/>
              </a:rPr>
              <a:t>• Earlier empiric antibiotics reduced sepsis mortality by 23%
• Each hour of delay increased mortality odds by 4%
• Earlier treatment correlated with 18-25% shorter sepsis LOS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6A9955"/>
                </a:solidFill>
                <a:latin typeface="Consolas"/>
              </a:rPr>
              <a:t># NeoTherm LOS Savings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6654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042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sepsis_cost    = $170,927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420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sepsis_los     = 22.4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79775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B5CEA8"/>
                </a:solidFill>
                <a:latin typeface="Consolas"/>
              </a:rPr>
              <a:t>cost_per_day   = $7,630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1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5526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los_reduction  = 20%  (conservative)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9300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days_saved     = 4.48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3075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D700"/>
                </a:solidFill>
                <a:latin typeface="Consolas"/>
              </a:rPr>
              <a:t>savings_per_ep = $34,185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68495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nicu_beds      =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4398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sepsis_rate    = 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8172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admissions/yr  = 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1947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CDCFE"/>
                </a:solidFill>
                <a:latin typeface="Consolas"/>
              </a:rPr>
              <a:t>episodes/yr    = 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57215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9495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TOTAL SAVINGS  = $6,837,000/yr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632703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98C379"/>
                </a:solidFill>
                <a:latin typeface="Consolas"/>
              </a:rPr>
              <a:t>PER BED        = $136,740/yr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60"/>
            <a:ext cx="3200400" cy="10058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0D8A8A"/>
                </a:solidFill>
                <a:latin typeface="Calibri"/>
              </a:rPr>
              <a:t>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LOS reduction (conservative)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394960"/>
            <a:ext cx="3200400" cy="1005840"/>
          </a:xfrm>
          <a:prstGeom prst="roundRect">
            <a:avLst/>
          </a:prstGeom>
          <a:solidFill>
            <a:srgbClr val="EDF7F1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79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1A7A4C"/>
                </a:solidFill>
                <a:latin typeface="Calibri"/>
              </a:rPr>
              <a:t>$6,591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saved per patient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5394960"/>
            <a:ext cx="3200400" cy="10058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solidFill>
                  <a:srgbClr val="2563A0"/>
                </a:solidFill>
                <a:latin typeface="Calibri"/>
              </a:rPr>
              <a:t>$213M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u="none">
                <a:solidFill>
                  <a:srgbClr val="64748B"/>
                </a:solidFill>
                <a:latin typeface="Calibri"/>
              </a:rPr>
              <a:t>US-wide annual savings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